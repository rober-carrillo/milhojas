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5E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95360" y="822960"/>
            <a:ext cx="2651760" cy="777240"/>
          </a:xfrm>
          <a:prstGeom prst="roundRect">
            <a:avLst>
              <a:gd name="adj" fmla="val 25000"/>
            </a:avLst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075E54"/>
                </a:solidFill>
                <a:latin typeface="Calibri"/>
              </a:rPr>
              <a:t>¿Qué hay cerca?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0" y="1828800"/>
            <a:ext cx="2103120" cy="777240"/>
          </a:xfrm>
          <a:prstGeom prst="roundRect">
            <a:avLst>
              <a:gd name="adj" fmla="val 25000"/>
            </a:avLst>
          </a:prstGeom>
          <a:solidFill>
            <a:srgbClr val="CF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075E54"/>
                </a:solidFill>
                <a:latin typeface="Calibri"/>
              </a:rPr>
              <a:t>3 vendedores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5D366"/>
                </a:solidFill>
                <a:latin typeface="Calibri"/>
              </a:rPr>
              <a:t>Milhojas on WhatsApp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8412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 bot flow, the group-chat wall,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and the platform tradeoffs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CFEFE2"/>
                </a:solidFill>
                <a:latin typeface="Calibri"/>
              </a:rPr>
              <a:t>WhatsApp bot  ·  Telegram bot  ·  our own messaging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CC9BC"/>
                </a:solidFill>
                <a:latin typeface="Calibri"/>
              </a:rPr>
              <a:t>Milhojas project · July 2026 · sources: Meta Business Platform docs (Jun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75E54"/>
                </a:solidFill>
                <a:latin typeface="Calibri"/>
              </a:rPr>
              <a:t>The model: a directory with a handoff — not a 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E6E68"/>
                </a:solidFill>
                <a:latin typeface="Calibri"/>
              </a:rPr>
              <a:t>Meta policy forbids forwarding one customer’s chat to another. So the bot introduces, then steps aside.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017520" cy="1051560"/>
          </a:xfrm>
          <a:prstGeom prst="roundRect">
            <a:avLst>
              <a:gd name="adj" fmla="val 25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26332F"/>
                </a:solidFill>
                <a:latin typeface="Calibri"/>
              </a:rPr>
              <a:t>CONSUMER</a:t>
            </a:r>
          </a:p>
          <a:p>
            <a:pPr algn="ctr"/>
            <a:r>
              <a:rPr sz="1400" b="1">
                <a:solidFill>
                  <a:srgbClr val="26332F"/>
                </a:solidFill>
                <a:latin typeface="Calibri"/>
              </a:rPr>
              <a:t>browses by chatting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103120"/>
            <a:ext cx="3017520" cy="1051560"/>
          </a:xfrm>
          <a:prstGeom prst="roundRect">
            <a:avLst>
              <a:gd name="adj" fmla="val 25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MILHOJAS BOT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directory + matchmaker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103120"/>
            <a:ext cx="3017520" cy="1051560"/>
          </a:xfrm>
          <a:prstGeom prst="roundRect">
            <a:avLst>
              <a:gd name="adj" fmla="val 25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26332F"/>
                </a:solidFill>
                <a:latin typeface="Calibri"/>
              </a:rPr>
              <a:t>VENDOR</a:t>
            </a:r>
          </a:p>
          <a:p>
            <a:pPr algn="ctr"/>
            <a:r>
              <a:rPr sz="1400" b="1">
                <a:solidFill>
                  <a:srgbClr val="26332F"/>
                </a:solidFill>
                <a:latin typeface="Calibri"/>
              </a:rPr>
              <a:t>gets the customer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0" y="2628900"/>
            <a:ext cx="658368" cy="0"/>
          </a:xfrm>
          <a:prstGeom prst="line">
            <a:avLst/>
          </a:prstGeom>
          <a:ln w="28575">
            <a:solidFill>
              <a:srgbClr val="25D3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80960" y="2628900"/>
            <a:ext cx="658367" cy="0"/>
          </a:xfrm>
          <a:prstGeom prst="line">
            <a:avLst/>
          </a:prstGeom>
          <a:ln w="28575">
            <a:solidFill>
              <a:srgbClr val="25D3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40280" y="3657600"/>
            <a:ext cx="7680960" cy="0"/>
          </a:xfrm>
          <a:prstGeom prst="line">
            <a:avLst/>
          </a:prstGeom>
          <a:ln w="38100">
            <a:solidFill>
              <a:srgbClr val="25D366"/>
            </a:solidFill>
            <a:prstDash val="dash"/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28800" y="379476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E6E68"/>
                </a:solidFill>
                <a:latin typeface="Calibri"/>
              </a:rPr>
              <a:t>after the handoff: consumer ↔ vendor talk directly in their own private WhatsApp chat — the bot is out of the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006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75E54"/>
                </a:solidFill>
                <a:latin typeface="Calibri"/>
              </a:rP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44068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6332F"/>
                </a:solidFill>
                <a:latin typeface="Calibri"/>
              </a:rPr>
              <a:t>consumer conversations — user-initiated chats are free &amp; unlimited on Cloud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66344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48006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75E54"/>
                </a:solidFill>
                <a:latin typeface="Calibri"/>
              </a:rPr>
              <a:t>$0.0009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544068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6332F"/>
                </a:solidFill>
                <a:latin typeface="Calibri"/>
              </a:rPr>
              <a:t>per vendor “interest alert” in Colombia (utility template)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66344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48006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75E54"/>
                </a:solidFill>
                <a:latin typeface="Calibri"/>
              </a:rPr>
              <a:t>0 installs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44068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6332F"/>
                </a:solidFill>
                <a:latin typeface="Calibri"/>
              </a:rPr>
              <a:t>consumers need nothing new — 74% of Colombian businesses already sell on WhatsApp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75E54"/>
                </a:solidFill>
                <a:latin typeface="Calibri"/>
              </a:rPr>
              <a:t>Expected communication process, step by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2286000" cy="502920"/>
          </a:xfrm>
          <a:prstGeom prst="roundRect">
            <a:avLst>
              <a:gd name="adj" fmla="val 25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26332F"/>
                </a:solidFill>
                <a:latin typeface="Calibri"/>
              </a:rPr>
              <a:t>CONSUMER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83080" y="1600200"/>
            <a:ext cx="0" cy="4892040"/>
          </a:xfrm>
          <a:prstGeom prst="line">
            <a:avLst/>
          </a:prstGeom>
          <a:ln w="19050">
            <a:solidFill>
              <a:srgbClr val="C9D8D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937760" y="1051560"/>
            <a:ext cx="2286000" cy="502920"/>
          </a:xfrm>
          <a:prstGeom prst="roundRect">
            <a:avLst>
              <a:gd name="adj" fmla="val 25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MILHOJAS BOT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1600200"/>
            <a:ext cx="0" cy="4892040"/>
          </a:xfrm>
          <a:prstGeom prst="line">
            <a:avLst/>
          </a:prstGeom>
          <a:ln w="19050">
            <a:solidFill>
              <a:srgbClr val="C9D8D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235440" y="1051560"/>
            <a:ext cx="2286000" cy="502920"/>
          </a:xfrm>
          <a:prstGeom prst="roundRect">
            <a:avLst>
              <a:gd name="adj" fmla="val 25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400" b="1">
                <a:solidFill>
                  <a:srgbClr val="26332F"/>
                </a:solidFill>
                <a:latin typeface="Calibri"/>
              </a:rPr>
              <a:t>VENDOR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378440" y="1600200"/>
            <a:ext cx="0" cy="4892040"/>
          </a:xfrm>
          <a:prstGeom prst="line">
            <a:avLst/>
          </a:prstGeom>
          <a:ln w="19050">
            <a:solidFill>
              <a:srgbClr val="C9D8D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83080" y="2148840"/>
            <a:ext cx="4297680" cy="0"/>
          </a:xfrm>
          <a:prstGeom prst="line">
            <a:avLst/>
          </a:prstGeom>
          <a:ln w="28575">
            <a:solidFill>
              <a:srgbClr val="075E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20240" y="1837944"/>
            <a:ext cx="402336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6332F"/>
                </a:solidFill>
                <a:latin typeface="Calibri"/>
              </a:rPr>
              <a:t>1  “Hola — ¿qué hay cerca?”   (free)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783080" y="2743200"/>
            <a:ext cx="4297680" cy="0"/>
          </a:xfrm>
          <a:prstGeom prst="line">
            <a:avLst/>
          </a:prstGeom>
          <a:ln w="28575">
            <a:solidFill>
              <a:srgbClr val="075E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20240" y="2432304"/>
            <a:ext cx="402336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6332F"/>
                </a:solidFill>
                <a:latin typeface="Calibri"/>
              </a:rPr>
              <a:t>2  location-request button (native “send location”)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83080" y="3337560"/>
            <a:ext cx="4297680" cy="0"/>
          </a:xfrm>
          <a:prstGeom prst="line">
            <a:avLst/>
          </a:prstGeom>
          <a:ln w="28575">
            <a:solidFill>
              <a:srgbClr val="075E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20240" y="3026664"/>
            <a:ext cx="402336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6332F"/>
                </a:solidFill>
                <a:latin typeface="Calibri"/>
              </a:rPr>
              <a:t>3  shares location → bot gets lat/lng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783080" y="3931920"/>
            <a:ext cx="4297680" cy="0"/>
          </a:xfrm>
          <a:prstGeom prst="line">
            <a:avLst/>
          </a:prstGeom>
          <a:ln w="28575">
            <a:solidFill>
              <a:srgbClr val="075E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920240" y="3621024"/>
            <a:ext cx="402336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6332F"/>
                </a:solidFill>
                <a:latin typeface="Calibri"/>
              </a:rPr>
              <a:t>4  list message: 10 nearby vendors / products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83080" y="4526280"/>
            <a:ext cx="4297680" cy="0"/>
          </a:xfrm>
          <a:prstGeom prst="line">
            <a:avLst/>
          </a:prstGeom>
          <a:ln w="28575">
            <a:solidFill>
              <a:srgbClr val="075E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0240" y="4215384"/>
            <a:ext cx="402336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6332F"/>
                </a:solidFill>
                <a:latin typeface="Calibri"/>
              </a:rPr>
              <a:t>5  taps a vendor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783080" y="5120640"/>
            <a:ext cx="4297680" cy="0"/>
          </a:xfrm>
          <a:prstGeom prst="line">
            <a:avLst/>
          </a:prstGeom>
          <a:ln w="28575">
            <a:solidFill>
              <a:srgbClr val="075E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20240" y="4809744"/>
            <a:ext cx="402336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6332F"/>
                </a:solidFill>
                <a:latin typeface="Calibri"/>
              </a:rPr>
              <a:t>6a  vendor card + wa.me deep link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5120640"/>
            <a:ext cx="4297680" cy="0"/>
          </a:xfrm>
          <a:prstGeom prst="line">
            <a:avLst/>
          </a:prstGeom>
          <a:ln w="28575">
            <a:solidFill>
              <a:srgbClr val="25D3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0" y="4809744"/>
            <a:ext cx="4023359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6332F"/>
                </a:solidFill>
                <a:latin typeface="Calibri"/>
              </a:rPr>
              <a:t>6b  opted-in alert: “someone wants your arepas”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83080" y="5943600"/>
            <a:ext cx="8595360" cy="0"/>
          </a:xfrm>
          <a:prstGeom prst="line">
            <a:avLst/>
          </a:prstGeom>
          <a:ln w="38100">
            <a:solidFill>
              <a:srgbClr val="25D366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057400" y="5605272"/>
            <a:ext cx="804672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5D366"/>
                </a:solidFill>
                <a:latin typeface="Calibri"/>
              </a:rPr>
              <a:t>7  private chat — they negotiate &amp; sell without the 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093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E6E68"/>
                </a:solidFill>
                <a:latin typeface="Calibri"/>
              </a:rPr>
              <a:t>Every consumer step is user-initiated → free service conversation. Only step 6b costs money (≈$0.0009 in CO). The alert never contains the buyer’s chat content — that keeps us inside Meta’s no-forwarding rule.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75E54"/>
                </a:solidFill>
                <a:latin typeface="Calibri"/>
              </a:rPr>
              <a:t>What the bot can legally use in-chat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E6E68"/>
                </a:solidFill>
                <a:latin typeface="Calibri"/>
              </a:rPr>
              <a:t>All confirmed in Meta Cloud API docs, June 2026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490472"/>
            <a:ext cx="502920" cy="502920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17320"/>
            <a:ext cx="2834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5E54"/>
                </a:solidFill>
                <a:latin typeface="Calibri"/>
              </a:rPr>
              <a:t>List messages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417320"/>
            <a:ext cx="5394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6332F"/>
                </a:solidFill>
                <a:latin typeface="Calibri"/>
              </a:rPr>
              <a:t>menus of up to 10 options — “pick a category / vendor”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1417320"/>
            <a:ext cx="1828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E6E68"/>
                </a:solidFill>
                <a:latin typeface="Calibri"/>
              </a:rPr>
              <a:t>free in service window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58568"/>
            <a:ext cx="2834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5E54"/>
                </a:solidFill>
                <a:latin typeface="Calibri"/>
              </a:rPr>
              <a:t>Location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258568"/>
            <a:ext cx="5394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6332F"/>
                </a:solidFill>
                <a:latin typeface="Calibri"/>
              </a:rPr>
              <a:t>native button; webhook returns lat/lng — the hyperlocal primitive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258568"/>
            <a:ext cx="1828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E6E68"/>
                </a:solidFill>
                <a:latin typeface="Calibri"/>
              </a:rPr>
              <a:t>free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172968"/>
            <a:ext cx="502920" cy="502920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99816"/>
            <a:ext cx="2834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5E54"/>
                </a:solidFill>
                <a:latin typeface="Calibri"/>
              </a:rPr>
              <a:t>WhatsApp 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099816"/>
            <a:ext cx="5394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6332F"/>
                </a:solidFill>
                <a:latin typeface="Calibri"/>
              </a:rPr>
              <a:t>multi-screen forms in-chat — vendors could log end-of-day sales without installing anything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99816"/>
            <a:ext cx="1828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E6E68"/>
                </a:solidFill>
                <a:latin typeface="Calibri"/>
              </a:rPr>
              <a:t>free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014216"/>
            <a:ext cx="502920" cy="502920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41064"/>
            <a:ext cx="2834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5E54"/>
                </a:solidFill>
                <a:latin typeface="Calibri"/>
              </a:rPr>
              <a:t>Catalog / product msgs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41064"/>
            <a:ext cx="5394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6332F"/>
                </a:solidFill>
                <a:latin typeface="Calibri"/>
              </a:rPr>
              <a:t>up to 30 items with native cart — but one catalog per OUR account, so multi-vendor needs pooling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941064"/>
            <a:ext cx="1828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E6E68"/>
                </a:solidFill>
                <a:latin typeface="Calibri"/>
              </a:rPr>
              <a:t>free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855464"/>
            <a:ext cx="502920" cy="502920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82312"/>
            <a:ext cx="2834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5E54"/>
                </a:solidFill>
                <a:latin typeface="Calibri"/>
              </a:rPr>
              <a:t>Utility templates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782312"/>
            <a:ext cx="5394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6332F"/>
                </a:solidFill>
                <a:latin typeface="Calibri"/>
              </a:rPr>
              <a:t>opted-in vendor notifications outside the 24 h window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4782312"/>
            <a:ext cx="1828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E6E68"/>
                </a:solidFill>
                <a:latin typeface="Calibri"/>
              </a:rPr>
              <a:t>≈$0.0009 CO · $0.0034 US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696712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623560"/>
            <a:ext cx="2834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5042"/>
                </a:solidFill>
                <a:latin typeface="Calibri"/>
              </a:rPr>
              <a:t>Marketing templates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623560"/>
            <a:ext cx="5394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6332F"/>
                </a:solidFill>
                <a:latin typeface="Calibri"/>
              </a:rPr>
              <a:t>proactive promos — PAUSED for US numbers since Apr 2025, no end 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5623560"/>
            <a:ext cx="1828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E6E68"/>
                </a:solidFill>
                <a:latin typeface="Calibri"/>
              </a:rPr>
              <a:t>unavailable in 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75E54"/>
                </a:solidFill>
                <a:latin typeface="Calibri"/>
              </a:rPr>
              <a:t>The wall: bots cannot live inside WhatsApp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E6E68"/>
                </a:solidFill>
                <a:latin typeface="Calibri"/>
              </a:rPr>
              <a:t>This is the limitation you spotted — and it is by design, not a missing feature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94960" cy="4846320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75E54"/>
                </a:solidFill>
                <a:latin typeface="Calibri"/>
              </a:rPr>
              <a:t>What we’d want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71450" marL="171450">
              <a:spcAft>
                <a:spcPts val="1000"/>
              </a:spcAft>
              <a:buFont typeface="Arial"/>
              <a:buChar char="•"/>
            </a:pPr>
            <a:r>
              <a:rPr sz="1350">
                <a:solidFill>
                  <a:srgbClr val="26332F"/>
                </a:solidFill>
                <a:latin typeface="Calibri"/>
              </a:rPr>
              <a:t>Join the barrio’s existing group chat (vendors’ association, plaza group, neighborhood group)</a:t>
            </a:r>
          </a:p>
          <a:p>
            <a:pPr indent="-171450" marL="171450">
              <a:spcAft>
                <a:spcPts val="1000"/>
              </a:spcAft>
              <a:buFont typeface="Arial"/>
              <a:buChar char="•"/>
            </a:pPr>
            <a:r>
              <a:rPr sz="1350">
                <a:solidFill>
                  <a:srgbClr val="26332F"/>
                </a:solidFill>
                <a:latin typeface="Calibri"/>
              </a:rPr>
              <a:t>Listen: collect offers, prices, requests already flowing there</a:t>
            </a:r>
          </a:p>
          <a:p>
            <a:pPr indent="-171450" marL="171450">
              <a:spcAft>
                <a:spcPts val="1000"/>
              </a:spcAft>
              <a:buFont typeface="Arial"/>
              <a:buChar char="•"/>
            </a:pPr>
            <a:r>
              <a:rPr sz="1350">
                <a:solidFill>
                  <a:srgbClr val="26332F"/>
                </a:solidFill>
                <a:latin typeface="Calibri"/>
              </a:rPr>
              <a:t>Organize: turn that stream into structured catalog + demand data</a:t>
            </a:r>
          </a:p>
          <a:p>
            <a:pPr indent="-171450" marL="171450">
              <a:spcAft>
                <a:spcPts val="1000"/>
              </a:spcAft>
              <a:buFont typeface="Arial"/>
              <a:buChar char="•"/>
            </a:pPr>
            <a:r>
              <a:rPr sz="1350">
                <a:solidFill>
                  <a:srgbClr val="26332F"/>
                </a:solidFill>
                <a:latin typeface="Calibri"/>
              </a:rPr>
              <a:t>Answer inside the group: “@bot ¿quién vende almuerzos hoy?”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394960" cy="4846320"/>
          </a:xfrm>
          <a:prstGeom prst="roundRect">
            <a:avLst>
              <a:gd name="adj" fmla="val 60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B85042"/>
                </a:solidFill>
                <a:latin typeface="Calibri"/>
              </a:rPr>
              <a:t>What Meta actually allows (Groups API, Jun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49377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250">
                <a:solidFill>
                  <a:srgbClr val="26332F"/>
                </a:solidFill>
                <a:latin typeface="Calibri"/>
              </a:rPr>
              <a:t>A business can only CREATE its own groups — it can never join an existing user group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250">
                <a:solidFill>
                  <a:srgbClr val="26332F"/>
                </a:solidFill>
                <a:latin typeface="Calibri"/>
              </a:rPr>
              <a:t>Max 8 participants per group; one Cloud-API business per group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250">
                <a:solidFill>
                  <a:srgbClr val="26332F"/>
                </a:solidFill>
                <a:latin typeface="Calibri"/>
              </a:rPr>
              <a:t>Requires an Official Business Account (green check) — granted selectively, not to day-one startups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250">
                <a:solidFill>
                  <a:srgbClr val="26332F"/>
                </a:solidFill>
                <a:latin typeface="Calibri"/>
              </a:rPr>
              <a:t>No interactive messages (no lists/buttons) inside groups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250">
                <a:solidFill>
                  <a:srgbClr val="26332F"/>
                </a:solidFill>
                <a:latin typeface="Calibri"/>
              </a:rPr>
              <a:t>And the standing rule: never forward one customer’s messages to another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1">
                <a:solidFill>
                  <a:srgbClr val="B85042"/>
                </a:solidFill>
                <a:latin typeface="Calibri"/>
              </a:rPr>
              <a:t>Bottom line: “integrate with the existing group chat” is impossible on WhatsApp’s official API — at any price, at any scale. Unofficial libraries that fake a phone client get numbers banned.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75E54"/>
                </a:solidFill>
                <a:latin typeface="Calibri"/>
              </a:rPr>
              <a:t>If we stay on WhatsApp: three honest workarounds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520440" cy="4023360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D366"/>
                </a:solidFill>
                <a:latin typeface="Calibri"/>
              </a:rPr>
              <a:t>RECOMMENDED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75E54"/>
                </a:solidFill>
                <a:latin typeface="Calibri"/>
              </a:rPr>
              <a:t>1:1 funnel (our current design)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2971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6332F"/>
                </a:solidFill>
                <a:latin typeface="Calibri"/>
              </a:rPr>
              <a:t>The group stays where it is; a pinned message / QR points members to the bot. Everyone who DMs the bot is a structured, owned relationship. The group is marketing, not infrastructure.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54480"/>
            <a:ext cx="3520440" cy="4023360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75E54"/>
                </a:solidFill>
                <a:latin typeface="Calibri"/>
              </a:rPr>
              <a:t>GOOD FOR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148840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75E54"/>
                </a:solidFill>
                <a:latin typeface="Calibri"/>
              </a:rPr>
              <a:t>Human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971800"/>
            <a:ext cx="2971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6332F"/>
                </a:solidFill>
                <a:latin typeface="Calibri"/>
              </a:rPr>
              <a:t>A group admin (or us, early on) manually forwards offers into the bot / web form. Ugly but honest — and exactly how we should do Phase 0–1 concierge-style validation anyway.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54480"/>
            <a:ext cx="3520440" cy="4023360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78308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6E68"/>
                </a:solidFill>
                <a:latin typeface="Calibri"/>
              </a:rPr>
              <a:t>LATER, LIMITED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148840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75E54"/>
                </a:solidFill>
                <a:latin typeface="Calibri"/>
              </a:rPr>
              <a:t>Bot-created mini-groups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971800"/>
            <a:ext cx="2971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6332F"/>
                </a:solidFill>
                <a:latin typeface="Calibri"/>
              </a:rPr>
              <a:t>Later, with an Official Business Account: 8-person groups we create (e.g., one vendor + our bot + a buyer cohort). Niche use — order coordination, not community.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075E54"/>
                </a:solidFill>
                <a:latin typeface="Calibri"/>
              </a:rPr>
              <a:t>Key insight: we don’t need to be inside the group — we need what the group knows. A 1:1 bot that every member can reach in one tap captures that, with consent, in structured 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75E54"/>
                </a:solidFill>
                <a:latin typeface="Calibri"/>
              </a:rPr>
              <a:t>The alternatives,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3258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5E54"/>
                </a:solidFill>
                <a:latin typeface="Calibri"/>
              </a:rPr>
              <a:t>WhatsApp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6440" y="13258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AABEE"/>
                </a:solidFill>
                <a:latin typeface="Calibri"/>
              </a:rPr>
              <a:t>Telegram 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32588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E6E68"/>
                </a:solidFill>
                <a:latin typeface="Calibri"/>
              </a:rPr>
              <a:t>Our own messaging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75E54"/>
                </a:solidFill>
                <a:latin typeface="Calibri"/>
              </a:rPr>
              <a:t>Users already there?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28800"/>
            <a:ext cx="2971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CO: near-universal; 74% of businesses sell on it. US: strong in immigrant / Latino communities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828800"/>
            <a:ext cx="2971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~1B global users, but a minority app in Colombia &amp; US — most vendors would need to install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828800"/>
            <a:ext cx="2697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Nobody — 100% cold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75E54"/>
                </a:solidFill>
                <a:latin typeface="Calibri"/>
              </a:rPr>
              <a:t>Bots in group chats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97480"/>
            <a:ext cx="2971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No — hard wall (prev. slide)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697480"/>
            <a:ext cx="2971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Yes — add bot to any group; with privacy mode off it reads &amp; organizes everything; groups to 200K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697480"/>
            <a:ext cx="2697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Yes — we define the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75E54"/>
                </a:solidFill>
                <a:latin typeface="Calibri"/>
              </a:rPr>
              <a:t>Cost &amp;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66160"/>
            <a:ext cx="2971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Free API; per-template fees; Meta verification, template review, policy risk each quarter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566160"/>
            <a:ext cx="2971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Bot API 100% free, no approval, no message fees, no 24 h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566160"/>
            <a:ext cx="2697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Dev time + hosting + push infra; months of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75E54"/>
                </a:solidFill>
                <a:latin typeface="Calibri"/>
              </a:rPr>
              <a:t>Rich 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4348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Lists, Flows, catalogs, location — but only what Meta permits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44348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Buttons, inline mode, mini-apps (full web apps in chat), payments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434840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Anything — it’s our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2064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75E54"/>
                </a:solidFill>
                <a:latin typeface="Calibri"/>
              </a:rPr>
              <a:t>Switching cost for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1206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None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51206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High in CO (new app, new habit) — kills hyperlocal density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5120640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Highest — the classic chat cold-start death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0644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75E54"/>
                </a:solidFill>
                <a:latin typeface="Calibri"/>
              </a:rPr>
              <a:t>Platform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80644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Meta can change rules quarterly (has, twice in 2 yrs)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580644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Low-moderate; lighter governance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580644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6332F"/>
                </a:solidFill>
                <a:latin typeface="Calibri"/>
              </a:rPr>
              <a:t>Zero platform risk, maximum execution risk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1755648"/>
            <a:ext cx="10927080" cy="0"/>
          </a:xfrm>
          <a:prstGeom prst="line">
            <a:avLst/>
          </a:prstGeom>
          <a:ln w="12700">
            <a:solidFill>
              <a:srgbClr val="DCE7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40080" y="2624328"/>
            <a:ext cx="10927080" cy="0"/>
          </a:xfrm>
          <a:prstGeom prst="line">
            <a:avLst/>
          </a:prstGeom>
          <a:ln w="12700">
            <a:solidFill>
              <a:srgbClr val="DCE7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0080" y="3493008"/>
            <a:ext cx="10927080" cy="0"/>
          </a:xfrm>
          <a:prstGeom prst="line">
            <a:avLst/>
          </a:prstGeom>
          <a:ln w="12700">
            <a:solidFill>
              <a:srgbClr val="DCE7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40080" y="4361688"/>
            <a:ext cx="10927080" cy="0"/>
          </a:xfrm>
          <a:prstGeom prst="line">
            <a:avLst/>
          </a:prstGeom>
          <a:ln w="12700">
            <a:solidFill>
              <a:srgbClr val="DCE7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0080" y="5047488"/>
            <a:ext cx="10927080" cy="0"/>
          </a:xfrm>
          <a:prstGeom prst="line">
            <a:avLst/>
          </a:prstGeom>
          <a:ln w="12700">
            <a:solidFill>
              <a:srgbClr val="DCE7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40080" y="5733288"/>
            <a:ext cx="10927080" cy="0"/>
          </a:xfrm>
          <a:prstGeom prst="line">
            <a:avLst/>
          </a:prstGeom>
          <a:ln w="12700">
            <a:solidFill>
              <a:srgbClr val="DCE7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75E54"/>
                </a:solidFill>
                <a:latin typeface="Calibri"/>
              </a:rPr>
              <a:t>Why the group-chat feature isn’t worth a platform 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E6E68"/>
                </a:solidFill>
                <a:latin typeface="Calibri"/>
              </a:rPr>
              <a:t>The tradeoff, quantified the way a vendor experiences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75E54"/>
                </a:solidFill>
                <a:latin typeface="Calibri"/>
              </a:rPr>
              <a:t>Path A · WhatsApp 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5029200" cy="548640"/>
          </a:xfrm>
          <a:prstGeom prst="roundRect">
            <a:avLst>
              <a:gd name="adj" fmla="val 25000"/>
            </a:avLst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l"/>
            <a:r>
              <a:rPr sz="1300" b="1">
                <a:solidFill>
                  <a:srgbClr val="075E54"/>
                </a:solidFill>
                <a:latin typeface="Calibri"/>
              </a:rPr>
              <a:t>Vendor already has WhatsApp (≈100%)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4526280" cy="548640"/>
          </a:xfrm>
          <a:prstGeom prst="roundRect">
            <a:avLst>
              <a:gd name="adj" fmla="val 25000"/>
            </a:avLst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l"/>
            <a:r>
              <a:rPr sz="1300" b="1">
                <a:solidFill>
                  <a:srgbClr val="075E54"/>
                </a:solidFill>
                <a:latin typeface="Calibri"/>
              </a:rPr>
              <a:t>Taps a link → chat opens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11880"/>
            <a:ext cx="4023360" cy="548640"/>
          </a:xfrm>
          <a:prstGeom prst="roundRect">
            <a:avLst>
              <a:gd name="adj" fmla="val 25000"/>
            </a:avLst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l"/>
            <a:r>
              <a:rPr sz="1300" b="1">
                <a:solidFill>
                  <a:srgbClr val="075E54"/>
                </a:solidFill>
                <a:latin typeface="Calibri"/>
              </a:rPr>
              <a:t>Is using Milhojas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1">
                <a:solidFill>
                  <a:srgbClr val="25D366"/>
                </a:solidFill>
                <a:latin typeface="Calibri"/>
              </a:rPr>
              <a:t>2 taps · 0 installs · ≈95%+ 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AABEE"/>
                </a:solidFill>
                <a:latin typeface="Calibri"/>
              </a:rPr>
              <a:t>Path B · Telegram (or new app)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57400"/>
            <a:ext cx="5029200" cy="548640"/>
          </a:xfrm>
          <a:prstGeom prst="roundRect">
            <a:avLst>
              <a:gd name="adj" fmla="val 25000"/>
            </a:avLst>
          </a:prstGeom>
          <a:solidFill>
            <a:srgbClr val="2AA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Has the app already? (minority in CO)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4251960" cy="548640"/>
          </a:xfrm>
          <a:prstGeom prst="roundRect">
            <a:avLst>
              <a:gd name="adj" fmla="val 25000"/>
            </a:avLst>
          </a:prstGeom>
          <a:solidFill>
            <a:srgbClr val="2AA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Else: install → sign up → find the bot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611880"/>
            <a:ext cx="3474720" cy="548640"/>
          </a:xfrm>
          <a:prstGeom prst="roundRect">
            <a:avLst>
              <a:gd name="adj" fmla="val 25000"/>
            </a:avLst>
          </a:prstGeom>
          <a:solidFill>
            <a:srgbClr val="9B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Convince the WHOLE group to migrate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2697480" cy="548640"/>
          </a:xfrm>
          <a:prstGeom prst="roundRect">
            <a:avLst>
              <a:gd name="adj" fmla="val 25000"/>
            </a:avLst>
          </a:prstGeom>
          <a:solidFill>
            <a:srgbClr val="9B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Group actually moves (rare)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2578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B85042"/>
                </a:solidFill>
                <a:latin typeface="Calibri"/>
              </a:rPr>
              <a:t>Each step loses most of the room — and hyperlocal only works at density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1">
                <a:solidFill>
                  <a:srgbClr val="26332F"/>
                </a:solidFill>
                <a:latin typeface="Calibri"/>
              </a:rPr>
              <a:t>A marketplace asking users to change messaging apps is asking them to pay the highest price they know — leaving everyone they talk to — before receiving any value. The group-reading feature is real, but it’s worth less than the audience we’d lose getting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5E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75E54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37160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Stay WhatsApp-first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1371600"/>
            <a:ext cx="6126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E4F4ED"/>
                </a:solidFill>
                <a:latin typeface="Calibri"/>
              </a:rPr>
              <a:t>Keep the Phase 1.5 handoff bot: 1:1 directory + wa.me handoff + utility alerts. Zero switching cost is the moat, not a compromise.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75E54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60604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Treat groups as marketing, not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2606040"/>
            <a:ext cx="6126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E4F4ED"/>
                </a:solidFill>
                <a:latin typeface="Calibri"/>
              </a:rPr>
              <a:t>Pinned messages, QRs at the plaza, admin partnerships funnel group members into 1:1 bot chats — structured, consented, owned.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CF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75E54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84048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Pilot Telegram only as an experiment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840480"/>
            <a:ext cx="6126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E4F4ED"/>
                </a:solidFill>
                <a:latin typeface="Calibri"/>
              </a:rPr>
              <a:t>If a specific community already lives on Telegram (some SF niches do), a free group-native bot there costs a weekend. Run it as a probe, never as a migration.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CF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75E54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507492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Own chat only at Phase 4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5074920"/>
            <a:ext cx="6126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E4F4ED"/>
                </a:solidFill>
                <a:latin typeface="Calibri"/>
              </a:rPr>
              <a:t>Our app already stores catalog + ledger. In-app chat gets built when the fair/community phase proves demand — per the master plan’s scope guard, not before.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25D366"/>
                </a:solidFill>
                <a:latin typeface="Calibri"/>
              </a:rPr>
              <a:t>Next step: register Meta Cloud API + business verification during Phase 1 (2–10 days) so the bot ships the week the vendor MVP does.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